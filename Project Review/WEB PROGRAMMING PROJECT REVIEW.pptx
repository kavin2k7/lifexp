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
  </p:notesMasterIdLst>
  <p:sldIdLst>
    <p:sldId id="256" r:id="rId2"/>
    <p:sldId id="257" r:id="rId3"/>
    <p:sldId id="374" r:id="rId4"/>
    <p:sldId id="372" r:id="rId5"/>
    <p:sldId id="373" r:id="rId6"/>
    <p:sldId id="375" r:id="rId7"/>
    <p:sldId id="371" r:id="rId8"/>
    <p:sldId id="3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dirty="0"/>
              <a:t>CS19811-Phase-II-Final Viva</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dirty="0"/>
              <a:t>CS19811-Phase-II-Final Viva</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840362" y="3057378"/>
            <a:ext cx="11037605" cy="144930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endParaRPr lang="en-US" sz="2400" b="1"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US" sz="3600" b="1" dirty="0">
                <a:solidFill>
                  <a:srgbClr val="7030A0"/>
                </a:solidFill>
                <a:latin typeface="Times New Roman" panose="02020603050405020304" pitchFamily="18" charset="0"/>
                <a:cs typeface="Times New Roman" panose="02020603050405020304" pitchFamily="18" charset="0"/>
              </a:rPr>
              <a:t>PROJECT TITLE: </a:t>
            </a:r>
          </a:p>
          <a:p>
            <a:pPr>
              <a:lnSpc>
                <a:spcPct val="150000"/>
              </a:lnSpc>
            </a:pPr>
            <a:r>
              <a:rPr lang="en-US" sz="3600" b="1" dirty="0" err="1">
                <a:solidFill>
                  <a:srgbClr val="7030A0"/>
                </a:solidFill>
                <a:latin typeface="Times New Roman" panose="02020603050405020304" pitchFamily="18" charset="0"/>
                <a:cs typeface="Times New Roman" panose="02020603050405020304" pitchFamily="18" charset="0"/>
              </a:rPr>
              <a:t>LifeXP</a:t>
            </a:r>
            <a:r>
              <a:rPr lang="en-US" sz="3600" b="1" dirty="0">
                <a:solidFill>
                  <a:srgbClr val="7030A0"/>
                </a:solidFill>
                <a:latin typeface="Times New Roman" panose="02020603050405020304" pitchFamily="18" charset="0"/>
                <a:cs typeface="Times New Roman" panose="02020603050405020304" pitchFamily="18" charset="0"/>
              </a:rPr>
              <a:t>  GAMIFIED EVERYDAY PRODUCTIVITY</a:t>
            </a:r>
            <a:endParaRPr lang="en-US" sz="3600" b="1" dirty="0">
              <a:solidFill>
                <a:schemeClr val="accent6">
                  <a:lumMod val="75000"/>
                </a:schemeClr>
              </a:solidFill>
              <a:latin typeface="Times New Roman" panose="02020603050405020304" pitchFamily="18" charset="0"/>
              <a:cs typeface="Times New Roman" panose="02020603050405020304" pitchFamily="18" charset="0"/>
            </a:endParaRPr>
          </a:p>
          <a:p>
            <a:pPr>
              <a:lnSpc>
                <a:spcPct val="150000"/>
              </a:lnSpc>
            </a:pPr>
            <a:endParaRPr lang="en-US" sz="2000" b="1" dirty="0">
              <a:solidFill>
                <a:srgbClr val="FF0000"/>
              </a:solidFill>
              <a:latin typeface="Times New Roman" panose="02020603050405020304" pitchFamily="18" charset="0"/>
              <a:ea typeface="+mn-ea"/>
              <a:cs typeface="Times New Roman" panose="02020603050405020304" pitchFamily="18" charset="0"/>
            </a:endParaRPr>
          </a:p>
          <a:p>
            <a:pPr algn="l">
              <a:lnSpc>
                <a:spcPct val="150000"/>
              </a:lnSpc>
            </a:pPr>
            <a:endParaRPr lang="en-IN" sz="2000" b="1" dirty="0">
              <a:solidFill>
                <a:schemeClr val="accent6">
                  <a:lumMod val="75000"/>
                </a:schemeClr>
              </a:solidFill>
              <a:latin typeface="Times New Roman" panose="02020603050405020304" pitchFamily="18" charset="0"/>
              <a:ea typeface="+mn-ea"/>
              <a:cs typeface="Times New Roman" panose="02020603050405020304" pitchFamily="18" charset="0"/>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7398328" y="5228206"/>
            <a:ext cx="44796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NAME</a:t>
            </a:r>
            <a:r>
              <a:rPr lang="en-IN" altLang="en-US" sz="2000" b="1" dirty="0">
                <a:solidFill>
                  <a:srgbClr val="FF0000"/>
                </a:solidFill>
                <a:latin typeface="Times New Roman" panose="02020603050405020304" pitchFamily="18" charset="0"/>
                <a:cs typeface="Times New Roman" panose="02020603050405020304" pitchFamily="18" charset="0"/>
              </a:rPr>
              <a:t>: KAVIN SAKTHI R</a:t>
            </a:r>
          </a:p>
          <a:p>
            <a:pP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REG</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NO</a:t>
            </a:r>
            <a:r>
              <a:rPr lang="en-IN" altLang="en-US" sz="2000" b="1" dirty="0">
                <a:solidFill>
                  <a:srgbClr val="FF0000"/>
                </a:solidFill>
                <a:latin typeface="Times New Roman" panose="02020603050405020304" pitchFamily="18" charset="0"/>
                <a:cs typeface="Times New Roman" panose="02020603050405020304" pitchFamily="18" charset="0"/>
              </a:rPr>
              <a:t>: 241901044</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8891" y="1213137"/>
            <a:ext cx="10515600" cy="10603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 </a:t>
            </a:r>
          </a:p>
          <a:p>
            <a:r>
              <a:rPr lang="en-IN" sz="3200" b="1" dirty="0">
                <a:solidFill>
                  <a:srgbClr val="002060"/>
                </a:solidFill>
                <a:latin typeface="Times New Roman" panose="02020603050405020304" pitchFamily="18" charset="0"/>
                <a:ea typeface="+mn-ea"/>
                <a:cs typeface="Times New Roman" panose="02020603050405020304" pitchFamily="18" charset="0"/>
              </a:rPr>
              <a:t>(Cyber Security)</a:t>
            </a:r>
          </a:p>
        </p:txBody>
      </p:sp>
      <p:pic>
        <p:nvPicPr>
          <p:cNvPr id="4" name="Picture 3">
            <a:extLst>
              <a:ext uri="{FF2B5EF4-FFF2-40B4-BE49-F238E27FC236}">
                <a16:creationId xmlns:a16="http://schemas.microsoft.com/office/drawing/2014/main" id="{E12ABC60-AF57-3F89-6270-EF5EDC1D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339" y="194915"/>
            <a:ext cx="2689499" cy="868776"/>
          </a:xfrm>
          <a:prstGeom prst="rect">
            <a:avLst/>
          </a:prstGeom>
        </p:spPr>
      </p:pic>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ABSTRACT</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5651" y="1838960"/>
            <a:ext cx="10668000" cy="4180840"/>
          </a:xfrm>
        </p:spPr>
        <p:txBody>
          <a:bodyPr/>
          <a:lstStyle/>
          <a:p>
            <a:r>
              <a:rPr lang="en-IN" sz="2000" b="1" dirty="0"/>
              <a:t>Productivity software and gamification</a:t>
            </a:r>
            <a:endParaRPr lang="en-IN" sz="2000" dirty="0"/>
          </a:p>
          <a:p>
            <a:pPr lvl="0"/>
            <a:r>
              <a:rPr lang="en-IN" sz="2000" dirty="0"/>
              <a:t>Productivity applications help people plan tasks, build habits, and track progress.</a:t>
            </a:r>
          </a:p>
          <a:p>
            <a:pPr lvl="0"/>
            <a:r>
              <a:rPr lang="en-IN" sz="2000" dirty="0"/>
              <a:t>Gamification applies game-inspired elements—such as points, levels, streaks, and achievements—to encourage consistent engagement.</a:t>
            </a:r>
          </a:p>
          <a:p>
            <a:pPr lvl="0"/>
            <a:r>
              <a:rPr lang="en-IN" sz="2000" dirty="0"/>
              <a:t>Web applications combine interactive user interfaces with backend services and databases to store user activity securely.</a:t>
            </a:r>
          </a:p>
          <a:p>
            <a:pPr lvl="0"/>
            <a:r>
              <a:rPr lang="en-IN" sz="2000" dirty="0" err="1"/>
              <a:t>LifeXP</a:t>
            </a:r>
            <a:r>
              <a:rPr lang="en-IN" sz="2000" dirty="0"/>
              <a:t> brings these ideas together by turning everyday tasks into quests and rewarding progress.</a:t>
            </a: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DE721B2E-B8C7-05B9-5F04-C112E1E34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ED4AC-7B43-3850-D243-BCD132E2C20C}"/>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PROBLEM STATEMENT / OBJECTIVE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A5961F-8A9B-F95A-BB8A-355C5A48346A}"/>
              </a:ext>
            </a:extLst>
          </p:cNvPr>
          <p:cNvSpPr>
            <a:spLocks noGrp="1"/>
          </p:cNvSpPr>
          <p:nvPr>
            <p:ph idx="1"/>
          </p:nvPr>
        </p:nvSpPr>
        <p:spPr/>
        <p:txBody>
          <a:bodyPr/>
          <a:lstStyle/>
          <a:p>
            <a:r>
              <a:rPr lang="en-IN" sz="2000" b="1" dirty="0"/>
              <a:t>Problem statement:</a:t>
            </a:r>
            <a:br>
              <a:rPr lang="en-IN" sz="2000" dirty="0"/>
            </a:br>
            <a:r>
              <a:rPr lang="en-IN" sz="2000" dirty="0"/>
              <a:t>People may find it difficult to stay motivated and consistent when managing everyday tasks. Conventional task lists record what needs to be done but provide limited feedback or encouragement as users make progress.</a:t>
            </a:r>
          </a:p>
          <a:p>
            <a:r>
              <a:rPr lang="en-IN" sz="2000" b="1" dirty="0"/>
              <a:t>Objectives:</a:t>
            </a:r>
            <a:endParaRPr lang="en-IN" sz="2000" dirty="0"/>
          </a:p>
          <a:p>
            <a:pPr lvl="0"/>
            <a:r>
              <a:rPr lang="en-IN" sz="2000" dirty="0"/>
              <a:t>Build a web application that makes task tracking more engaging.</a:t>
            </a:r>
          </a:p>
          <a:p>
            <a:pPr lvl="0"/>
            <a:r>
              <a:rPr lang="en-IN" sz="2000" dirty="0"/>
              <a:t>Let users create, organize, complete, and import tasks.</a:t>
            </a:r>
          </a:p>
          <a:p>
            <a:pPr lvl="0"/>
            <a:r>
              <a:rPr lang="en-IN" sz="2000" dirty="0"/>
              <a:t>Award XP and coins for completed tasks, with rewards based on difficulty.</a:t>
            </a:r>
          </a:p>
          <a:p>
            <a:pPr lvl="0"/>
            <a:r>
              <a:rPr lang="en-IN" sz="2000" dirty="0"/>
              <a:t>Track levels, streaks, achievements, and progress analytics.</a:t>
            </a:r>
          </a:p>
          <a:p>
            <a:pPr lvl="0"/>
            <a:r>
              <a:rPr lang="en-IN" sz="2000" dirty="0"/>
              <a:t>Provide user accounts and protect personal data through server-side authorization.</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64290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757CF5D-142D-473C-E195-36EB23B99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ED407-BAD9-643C-0875-B881EC2A5E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TECHNOLOGIES AND 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7F5649-1329-E9A0-92EE-5156008061E1}"/>
              </a:ext>
            </a:extLst>
          </p:cNvPr>
          <p:cNvSpPr>
            <a:spLocks noGrp="1"/>
          </p:cNvSpPr>
          <p:nvPr>
            <p:ph idx="1"/>
          </p:nvPr>
        </p:nvSpPr>
        <p:spPr/>
        <p:txBody>
          <a:bodyPr/>
          <a:lstStyle/>
          <a:p>
            <a:pPr marL="0" indent="0">
              <a:buNone/>
            </a:pPr>
            <a:endParaRPr lang="en-IN" sz="2000" dirty="0"/>
          </a:p>
          <a:p>
            <a:pPr lvl="0"/>
            <a:r>
              <a:rPr lang="en-IN" sz="2000" b="1" dirty="0"/>
              <a:t>Frontend:</a:t>
            </a:r>
            <a:r>
              <a:rPr lang="en-IN" sz="2000" dirty="0"/>
              <a:t> React, Vite, React Router, Bootstrap 5, </a:t>
            </a:r>
            <a:r>
              <a:rPr lang="en-IN" sz="2000" dirty="0" err="1"/>
              <a:t>Lucide</a:t>
            </a:r>
            <a:r>
              <a:rPr lang="en-IN" sz="2000" dirty="0"/>
              <a:t> React</a:t>
            </a:r>
          </a:p>
          <a:p>
            <a:pPr lvl="0"/>
            <a:r>
              <a:rPr lang="en-IN" sz="2000" b="1" dirty="0"/>
              <a:t>Backend:</a:t>
            </a:r>
            <a:r>
              <a:rPr lang="en-IN" sz="2000" dirty="0"/>
              <a:t> PHP JSON REST API, PDO</a:t>
            </a:r>
          </a:p>
          <a:p>
            <a:pPr lvl="0"/>
            <a:r>
              <a:rPr lang="en-IN" sz="2000" b="1" dirty="0"/>
              <a:t>Database:</a:t>
            </a:r>
            <a:r>
              <a:rPr lang="en-IN" sz="2000" dirty="0"/>
              <a:t> MySQL</a:t>
            </a:r>
          </a:p>
          <a:p>
            <a:pPr lvl="0"/>
            <a:r>
              <a:rPr lang="en-IN" sz="2000" b="1" dirty="0"/>
              <a:t>Testing:</a:t>
            </a:r>
            <a:r>
              <a:rPr lang="en-IN" sz="2000" dirty="0"/>
              <a:t> Node.js API smoke test</a:t>
            </a:r>
          </a:p>
          <a:p>
            <a:pPr marL="0" marR="0" lvl="0" indent="0" algn="l" defTabSz="914400" rtl="0" eaLnBrk="0" fontAlgn="base" latinLnBrk="0" hangingPunct="0">
              <a:lnSpc>
                <a:spcPct val="100000"/>
              </a:lnSpc>
              <a:spcBef>
                <a:spcPct val="20000"/>
              </a:spcBef>
              <a:spcAft>
                <a:spcPct val="0"/>
              </a:spcAft>
              <a:buClr>
                <a:srgbClr val="CC0000"/>
              </a:buClr>
              <a:buSzTx/>
              <a:buNone/>
              <a:tabLst/>
              <a:defRPr/>
            </a:pP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21638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03009753-C4D8-9F9F-5F3B-413B1F1F1F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7CCD7-6301-746C-76DD-6268EF867F44}"/>
              </a:ext>
            </a:extLst>
          </p:cNvPr>
          <p:cNvSpPr>
            <a:spLocks noGrp="1"/>
          </p:cNvSpPr>
          <p:nvPr>
            <p:ph idx="1"/>
          </p:nvPr>
        </p:nvSpPr>
        <p:spPr>
          <a:xfrm>
            <a:off x="634353" y="1474237"/>
            <a:ext cx="10668000" cy="4788159"/>
          </a:xfrm>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r>
              <a:rPr lang="en-IN" sz="2000" b="1" dirty="0"/>
              <a:t>Implementation</a:t>
            </a:r>
            <a:endParaRPr lang="en-IN" sz="2000" dirty="0"/>
          </a:p>
          <a:p>
            <a:pPr lvl="0"/>
            <a:r>
              <a:rPr lang="en-IN" sz="2000" dirty="0"/>
              <a:t>Users register and log in to access their own dashboard and tasks.</a:t>
            </a:r>
          </a:p>
          <a:p>
            <a:pPr lvl="0"/>
            <a:r>
              <a:rPr lang="en-IN" sz="2000" dirty="0"/>
              <a:t>The frontend sends authenticated requests to the PHP API.</a:t>
            </a:r>
          </a:p>
          <a:p>
            <a:pPr lvl="0"/>
            <a:r>
              <a:rPr lang="en-IN" sz="2000" dirty="0"/>
              <a:t>MySQL stores users, tasks, rewards, achievements, game scores, and settings.</a:t>
            </a:r>
          </a:p>
          <a:p>
            <a:pPr lvl="0"/>
            <a:r>
              <a:rPr lang="en-IN" sz="2000" dirty="0"/>
              <a:t>Completing a task awards XP and coins according to difficulty: Easy </a:t>
            </a:r>
            <a:r>
              <a:rPr lang="en-IN" sz="2000" b="1" dirty="0"/>
              <a:t>10 XP / 1 coin</a:t>
            </a:r>
            <a:r>
              <a:rPr lang="en-IN" sz="2000" dirty="0"/>
              <a:t>, Medium </a:t>
            </a:r>
            <a:r>
              <a:rPr lang="en-IN" sz="2000" b="1" dirty="0"/>
              <a:t>20 XP / 2 coins</a:t>
            </a:r>
            <a:r>
              <a:rPr lang="en-IN" sz="2000" dirty="0"/>
              <a:t>, Hard </a:t>
            </a:r>
            <a:r>
              <a:rPr lang="en-IN" sz="2000" b="1" dirty="0"/>
              <a:t>40 XP / 4 coins</a:t>
            </a:r>
            <a:r>
              <a:rPr lang="en-IN" sz="2000" dirty="0"/>
              <a:t>.</a:t>
            </a:r>
          </a:p>
          <a:p>
            <a:pPr lvl="0"/>
            <a:r>
              <a:rPr lang="en-IN" sz="2000" dirty="0"/>
              <a:t>Additional features include checklist import, streaks, analytics, an achievements page, a coin shop, an admin dashboard, and three mini-games.</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497ECB0A-8993-26DE-FF14-E991AA7BC4A9}"/>
              </a:ext>
            </a:extLst>
          </p:cNvPr>
          <p:cNvSpPr>
            <a:spLocks noGrp="1"/>
          </p:cNvSpPr>
          <p:nvPr>
            <p:ph type="title"/>
          </p:nvPr>
        </p:nvSpPr>
        <p:spPr>
          <a:xfrm>
            <a:off x="762000" y="342124"/>
            <a:ext cx="10668000" cy="1216025"/>
          </a:xfrm>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TECHNOLOGIES AND 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030746"/>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ACDF4-57F7-6613-5DCA-4815453EAE0F}"/>
              </a:ext>
            </a:extLst>
          </p:cNvPr>
          <p:cNvSpPr>
            <a:spLocks noGrp="1"/>
          </p:cNvSpPr>
          <p:nvPr>
            <p:ph type="title"/>
          </p:nvPr>
        </p:nvSpPr>
        <p:spPr/>
        <p:txBody>
          <a:bodyPr/>
          <a:lstStyle/>
          <a:p>
            <a:r>
              <a:rPr lang="en-IN" b="1" dirty="0">
                <a:solidFill>
                  <a:schemeClr val="accent6">
                    <a:lumMod val="50000"/>
                  </a:schemeClr>
                </a:solidFill>
                <a:latin typeface="Times New Roman" panose="02020603050405020304" pitchFamily="18" charset="0"/>
                <a:cs typeface="Times New Roman" panose="02020603050405020304" pitchFamily="18" charset="0"/>
              </a:rPr>
              <a:t>PROJECT OUTCOME</a:t>
            </a:r>
          </a:p>
        </p:txBody>
      </p:sp>
      <p:sp>
        <p:nvSpPr>
          <p:cNvPr id="3" name="Content Placeholder 2">
            <a:extLst>
              <a:ext uri="{FF2B5EF4-FFF2-40B4-BE49-F238E27FC236}">
                <a16:creationId xmlns:a16="http://schemas.microsoft.com/office/drawing/2014/main" id="{DE884916-1F35-924A-92B5-2F3A844693C9}"/>
              </a:ext>
            </a:extLst>
          </p:cNvPr>
          <p:cNvSpPr>
            <a:spLocks noGrp="1"/>
          </p:cNvSpPr>
          <p:nvPr>
            <p:ph idx="1"/>
          </p:nvPr>
        </p:nvSpPr>
        <p:spPr/>
        <p:txBody>
          <a:bodyPr/>
          <a:lstStyle/>
          <a:p>
            <a:pPr lvl="0"/>
            <a:r>
              <a:rPr lang="en-IN" sz="2000" dirty="0"/>
              <a:t>Developed </a:t>
            </a:r>
            <a:r>
              <a:rPr lang="en-IN" sz="2000" b="1" dirty="0" err="1"/>
              <a:t>LifeXP</a:t>
            </a:r>
            <a:r>
              <a:rPr lang="en-IN" sz="2000" dirty="0"/>
              <a:t>, a full-stack task-management application with gamification features.</a:t>
            </a:r>
          </a:p>
          <a:p>
            <a:pPr lvl="0"/>
            <a:r>
              <a:rPr lang="en-IN" sz="2000" dirty="0"/>
              <a:t>Implemented task creation and management, checklist import, reward tracking, achievements, analytics, and user profiles.</a:t>
            </a:r>
          </a:p>
          <a:p>
            <a:pPr lvl="0"/>
            <a:r>
              <a:rPr lang="en-IN" sz="2000" dirty="0"/>
              <a:t>Added three playable mini-games: Memory Match, Reaction Time, and Number Guessing.</a:t>
            </a:r>
          </a:p>
          <a:p>
            <a:pPr lvl="0"/>
            <a:r>
              <a:rPr lang="en-IN" sz="2000" dirty="0"/>
              <a:t>Practiced integrating a React frontend, PHP API, and MySQL database.</a:t>
            </a:r>
          </a:p>
          <a:p>
            <a:pPr lvl="0"/>
            <a:r>
              <a:rPr lang="en-IN" sz="2000" dirty="0"/>
              <a:t>Applied authentication, role-based access, input validation, and persistent data storage.</a:t>
            </a:r>
          </a:p>
          <a:p>
            <a:pPr lvl="0"/>
            <a:r>
              <a:rPr lang="en-IN" sz="2000" b="1" dirty="0"/>
              <a:t>Outcome:</a:t>
            </a:r>
            <a:r>
              <a:rPr lang="en-IN" sz="2000" dirty="0"/>
              <a:t> A working project that demonstrates how game-inspired feedback can make everyday task tracking more engaging.</a:t>
            </a:r>
          </a:p>
          <a:p>
            <a:endParaRPr lang="en-IN" dirty="0"/>
          </a:p>
        </p:txBody>
      </p:sp>
      <p:sp>
        <p:nvSpPr>
          <p:cNvPr id="4" name="Date Placeholder 3">
            <a:extLst>
              <a:ext uri="{FF2B5EF4-FFF2-40B4-BE49-F238E27FC236}">
                <a16:creationId xmlns:a16="http://schemas.microsoft.com/office/drawing/2014/main" id="{316BF6F0-C2FC-7E7A-1409-2BEC9DAFE0AD}"/>
              </a:ext>
            </a:extLst>
          </p:cNvPr>
          <p:cNvSpPr>
            <a:spLocks noGrp="1"/>
          </p:cNvSpPr>
          <p:nvPr>
            <p:ph type="dt" sz="half" idx="10"/>
          </p:nvPr>
        </p:nvSpPr>
        <p:spPr/>
        <p:txBody>
          <a:bodyPr/>
          <a:lstStyle/>
          <a:p>
            <a:pPr>
              <a:defRPr/>
            </a:pPr>
            <a:r>
              <a:rPr lang="en-US"/>
              <a:t>CS19811-Phase-II-Final Viva</a:t>
            </a:r>
            <a:endParaRPr lang="en-US" dirty="0"/>
          </a:p>
        </p:txBody>
      </p:sp>
      <p:sp>
        <p:nvSpPr>
          <p:cNvPr id="5" name="Footer Placeholder 4">
            <a:extLst>
              <a:ext uri="{FF2B5EF4-FFF2-40B4-BE49-F238E27FC236}">
                <a16:creationId xmlns:a16="http://schemas.microsoft.com/office/drawing/2014/main" id="{F983EB00-D66F-F5F0-DE9B-EBE9EF01F7F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97CE0F71-280C-D713-B596-AD92732E46F4}"/>
              </a:ext>
            </a:extLst>
          </p:cNvPr>
          <p:cNvSpPr>
            <a:spLocks noGrp="1"/>
          </p:cNvSpPr>
          <p:nvPr>
            <p:ph type="sldNum" sz="quarter" idx="12"/>
          </p:nvPr>
        </p:nvSpPr>
        <p:spPr/>
        <p:txBody>
          <a:bodyPr/>
          <a:lstStyle/>
          <a:p>
            <a:pPr>
              <a:defRPr/>
            </a:pPr>
            <a:fld id="{BDC2143B-610F-499C-A392-DFFBE135A7B2}" type="slidenum">
              <a:rPr lang="en-US" altLang="en-US" smtClean="0"/>
              <a:pPr>
                <a:defRPr/>
              </a:pPr>
              <a:t>6</a:t>
            </a:fld>
            <a:endParaRPr lang="en-US" altLang="en-US"/>
          </a:p>
        </p:txBody>
      </p:sp>
    </p:spTree>
    <p:extLst>
      <p:ext uri="{BB962C8B-B14F-4D97-AF65-F5344CB8AC3E}">
        <p14:creationId xmlns:p14="http://schemas.microsoft.com/office/powerpoint/2010/main" val="2305676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34088EE-409A-43D4-40D1-E46BE8E6B81A}"/>
              </a:ext>
            </a:extLst>
          </p:cNvPr>
          <p:cNvSpPr txBox="1"/>
          <p:nvPr/>
        </p:nvSpPr>
        <p:spPr>
          <a:xfrm>
            <a:off x="690465" y="979715"/>
            <a:ext cx="7865706" cy="584775"/>
          </a:xfrm>
          <a:prstGeom prst="rect">
            <a:avLst/>
          </a:prstGeom>
          <a:noFill/>
        </p:spPr>
        <p:txBody>
          <a:bodyPr wrap="square" rtlCol="0">
            <a:spAutoFit/>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FUTURE WORKS</a:t>
            </a:r>
          </a:p>
        </p:txBody>
      </p:sp>
      <p:sp>
        <p:nvSpPr>
          <p:cNvPr id="3" name="TextBox 2">
            <a:extLst>
              <a:ext uri="{FF2B5EF4-FFF2-40B4-BE49-F238E27FC236}">
                <a16:creationId xmlns:a16="http://schemas.microsoft.com/office/drawing/2014/main" id="{9DFB9FE7-8273-A288-BEF3-1CCAFFA3A020}"/>
              </a:ext>
            </a:extLst>
          </p:cNvPr>
          <p:cNvSpPr txBox="1"/>
          <p:nvPr/>
        </p:nvSpPr>
        <p:spPr>
          <a:xfrm>
            <a:off x="802432" y="1940768"/>
            <a:ext cx="10459617" cy="3754874"/>
          </a:xfrm>
          <a:prstGeom prst="rect">
            <a:avLst/>
          </a:prstGeom>
          <a:noFill/>
        </p:spPr>
        <p:txBody>
          <a:bodyPr wrap="square" rtlCol="0">
            <a:spAutoFit/>
          </a:bodyPr>
          <a:lstStyle/>
          <a:p>
            <a:pPr marL="285750" lvl="0" indent="-285750">
              <a:buFont typeface="Wingdings" panose="05000000000000000000" pitchFamily="2" charset="2"/>
              <a:buChar char="q"/>
            </a:pPr>
            <a:r>
              <a:rPr lang="en-IN" sz="2000" dirty="0"/>
              <a:t>Develop a </a:t>
            </a:r>
            <a:r>
              <a:rPr lang="en-IN" sz="2000" b="1" dirty="0"/>
              <a:t>mobile-friendly app or Progressive Web App (PWA)</a:t>
            </a:r>
            <a:r>
              <a:rPr lang="en-IN" sz="2000" dirty="0"/>
              <a:t> with offline access.</a:t>
            </a:r>
          </a:p>
          <a:p>
            <a:pPr marL="285750" lvl="0" indent="-285750">
              <a:buFont typeface="Wingdings" panose="05000000000000000000" pitchFamily="2" charset="2"/>
              <a:buChar char="q"/>
            </a:pPr>
            <a:r>
              <a:rPr lang="en-IN" sz="2000" dirty="0"/>
              <a:t>Add </a:t>
            </a:r>
            <a:r>
              <a:rPr lang="en-IN" sz="2000" b="1" dirty="0"/>
              <a:t>task reminders and notifications</a:t>
            </a:r>
            <a:r>
              <a:rPr lang="en-IN" sz="2000" dirty="0"/>
              <a:t> to help users stay on schedule.</a:t>
            </a:r>
          </a:p>
          <a:p>
            <a:pPr marL="285750" lvl="0" indent="-285750">
              <a:buFont typeface="Wingdings" panose="05000000000000000000" pitchFamily="2" charset="2"/>
              <a:buChar char="q"/>
            </a:pPr>
            <a:r>
              <a:rPr lang="en-IN" sz="2000" dirty="0"/>
              <a:t>Integrate with </a:t>
            </a:r>
            <a:r>
              <a:rPr lang="en-IN" sz="2000" b="1" dirty="0"/>
              <a:t>calendar applications</a:t>
            </a:r>
            <a:r>
              <a:rPr lang="en-IN" sz="2000" dirty="0"/>
              <a:t> for easier planning and deadline tracking.</a:t>
            </a:r>
          </a:p>
          <a:p>
            <a:pPr marL="285750" lvl="0" indent="-285750">
              <a:buFont typeface="Wingdings" panose="05000000000000000000" pitchFamily="2" charset="2"/>
              <a:buChar char="q"/>
            </a:pPr>
            <a:r>
              <a:rPr lang="en-IN" sz="2000" dirty="0"/>
              <a:t>Expand analytics with </a:t>
            </a:r>
            <a:r>
              <a:rPr lang="en-IN" sz="2000" b="1" dirty="0"/>
              <a:t>weekly reports, productivity trends, and personalized insights</a:t>
            </a:r>
            <a:r>
              <a:rPr lang="en-IN" sz="2000" dirty="0"/>
              <a:t>.</a:t>
            </a:r>
          </a:p>
          <a:p>
            <a:pPr marL="285750" lvl="0" indent="-285750">
              <a:buFont typeface="Wingdings" panose="05000000000000000000" pitchFamily="2" charset="2"/>
              <a:buChar char="q"/>
            </a:pPr>
            <a:r>
              <a:rPr lang="en-IN" sz="2000" dirty="0"/>
              <a:t>Introduce </a:t>
            </a:r>
            <a:r>
              <a:rPr lang="en-IN" sz="2000" b="1" dirty="0"/>
              <a:t>customizable goals and rewards</a:t>
            </a:r>
            <a:r>
              <a:rPr lang="en-IN" sz="2000" dirty="0"/>
              <a:t> to support different user preferences.</a:t>
            </a:r>
          </a:p>
          <a:p>
            <a:pPr marL="285750" lvl="0" indent="-285750">
              <a:buFont typeface="Wingdings" panose="05000000000000000000" pitchFamily="2" charset="2"/>
              <a:buChar char="q"/>
            </a:pPr>
            <a:r>
              <a:rPr lang="en-IN" sz="2000" dirty="0"/>
              <a:t>Deploy the application to a </a:t>
            </a:r>
            <a:r>
              <a:rPr lang="en-IN" sz="2000" b="1" dirty="0"/>
              <a:t>cloud platform</a:t>
            </a:r>
            <a:r>
              <a:rPr lang="en-IN" sz="2000" dirty="0"/>
              <a:t> for wider access and reliable availability.</a:t>
            </a:r>
          </a:p>
          <a:p>
            <a:endParaRPr lang="en-IN" dirty="0"/>
          </a:p>
        </p:txBody>
      </p:sp>
    </p:spTree>
    <p:extLst>
      <p:ext uri="{BB962C8B-B14F-4D97-AF65-F5344CB8AC3E}">
        <p14:creationId xmlns:p14="http://schemas.microsoft.com/office/powerpoint/2010/main" val="2273965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11F77-6F71-748A-F207-91106868C5BC}"/>
              </a:ext>
            </a:extLst>
          </p:cNvPr>
          <p:cNvSpPr>
            <a:spLocks noGrp="1"/>
          </p:cNvSpPr>
          <p:nvPr>
            <p:ph type="title"/>
          </p:nvPr>
        </p:nvSpPr>
        <p:spPr/>
        <p:txBody>
          <a:bodyPr/>
          <a:lstStyle/>
          <a:p>
            <a:r>
              <a:rPr lang="en-IN" b="1" dirty="0">
                <a:solidFill>
                  <a:schemeClr val="accent6">
                    <a:lumMod val="50000"/>
                  </a:schemeClr>
                </a:solidFill>
                <a:latin typeface="Times New Roman" panose="02020603050405020304" pitchFamily="18" charset="0"/>
                <a:cs typeface="Times New Roman" panose="02020603050405020304" pitchFamily="18" charset="0"/>
              </a:rPr>
              <a:t>CONCLUSION</a:t>
            </a:r>
          </a:p>
        </p:txBody>
      </p:sp>
      <p:sp>
        <p:nvSpPr>
          <p:cNvPr id="3" name="Date Placeholder 2">
            <a:extLst>
              <a:ext uri="{FF2B5EF4-FFF2-40B4-BE49-F238E27FC236}">
                <a16:creationId xmlns:a16="http://schemas.microsoft.com/office/drawing/2014/main" id="{3CB4ACC9-EF40-C3A4-F211-C87115A8A0B4}"/>
              </a:ext>
            </a:extLst>
          </p:cNvPr>
          <p:cNvSpPr>
            <a:spLocks noGrp="1"/>
          </p:cNvSpPr>
          <p:nvPr>
            <p:ph type="dt" sz="half" idx="10"/>
          </p:nvPr>
        </p:nvSpPr>
        <p:spPr/>
        <p:txBody>
          <a:bodyPr/>
          <a:lstStyle/>
          <a:p>
            <a:pPr>
              <a:defRPr/>
            </a:pPr>
            <a:r>
              <a:rPr lang="en-US"/>
              <a:t>CS19811-Phase-II-Final Viva</a:t>
            </a:r>
            <a:endParaRPr lang="en-US" dirty="0"/>
          </a:p>
        </p:txBody>
      </p:sp>
      <p:sp>
        <p:nvSpPr>
          <p:cNvPr id="4" name="Footer Placeholder 3">
            <a:extLst>
              <a:ext uri="{FF2B5EF4-FFF2-40B4-BE49-F238E27FC236}">
                <a16:creationId xmlns:a16="http://schemas.microsoft.com/office/drawing/2014/main" id="{48568E17-765A-3E51-9352-7D1891CE8028}"/>
              </a:ext>
            </a:extLst>
          </p:cNvPr>
          <p:cNvSpPr>
            <a:spLocks noGrp="1"/>
          </p:cNvSpPr>
          <p:nvPr>
            <p:ph type="ftr" sz="quarter" idx="11"/>
          </p:nvPr>
        </p:nvSpPr>
        <p:spPr/>
        <p:txBody>
          <a:body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77950793-00FA-1DF6-434A-E4C64275736C}"/>
              </a:ext>
            </a:extLst>
          </p:cNvPr>
          <p:cNvSpPr>
            <a:spLocks noGrp="1"/>
          </p:cNvSpPr>
          <p:nvPr>
            <p:ph type="sldNum" sz="quarter" idx="12"/>
          </p:nvPr>
        </p:nvSpPr>
        <p:spPr/>
        <p:txBody>
          <a:bodyPr/>
          <a:lstStyle/>
          <a:p>
            <a:pPr>
              <a:defRPr/>
            </a:pPr>
            <a:fld id="{F583B680-F650-469F-A231-392F163461F6}" type="slidenum">
              <a:rPr lang="en-US" altLang="en-US" smtClean="0"/>
              <a:pPr>
                <a:defRPr/>
              </a:pPr>
              <a:t>8</a:t>
            </a:fld>
            <a:endParaRPr lang="en-US" altLang="en-US"/>
          </a:p>
        </p:txBody>
      </p:sp>
      <p:sp>
        <p:nvSpPr>
          <p:cNvPr id="6" name="TextBox 5">
            <a:extLst>
              <a:ext uri="{FF2B5EF4-FFF2-40B4-BE49-F238E27FC236}">
                <a16:creationId xmlns:a16="http://schemas.microsoft.com/office/drawing/2014/main" id="{8B4D8E8A-A451-FC94-DFDE-C5AEC9DF4067}"/>
              </a:ext>
            </a:extLst>
          </p:cNvPr>
          <p:cNvSpPr txBox="1"/>
          <p:nvPr/>
        </p:nvSpPr>
        <p:spPr>
          <a:xfrm>
            <a:off x="1138335" y="2174032"/>
            <a:ext cx="10021077" cy="2554545"/>
          </a:xfrm>
          <a:prstGeom prst="rect">
            <a:avLst/>
          </a:prstGeom>
          <a:noFill/>
        </p:spPr>
        <p:txBody>
          <a:bodyPr wrap="square" rtlCol="0">
            <a:spAutoFit/>
          </a:bodyPr>
          <a:lstStyle/>
          <a:p>
            <a:pPr marL="285750" indent="-285750">
              <a:buFont typeface="Wingdings" panose="05000000000000000000" pitchFamily="2" charset="2"/>
              <a:buChar char="q"/>
            </a:pPr>
            <a:r>
              <a:rPr lang="en-IN" sz="2000" dirty="0" err="1"/>
              <a:t>LifeXP</a:t>
            </a:r>
            <a:r>
              <a:rPr lang="en-IN" sz="2000" dirty="0"/>
              <a:t> transforms everyday task management into an engaging experience by combining quests, XP, coins, levels, streaks, and achievements.</a:t>
            </a:r>
          </a:p>
          <a:p>
            <a:pPr marL="285750" indent="-285750">
              <a:buFont typeface="Wingdings" panose="05000000000000000000" pitchFamily="2" charset="2"/>
              <a:buChar char="q"/>
            </a:pPr>
            <a:r>
              <a:rPr lang="en-IN" sz="2000" dirty="0"/>
              <a:t>The project demonstrates a full-stack application built with React, PHP, and MySQL, with features for managing tasks, tracking progress, and encouraging consistent habits. </a:t>
            </a:r>
          </a:p>
          <a:p>
            <a:pPr marL="285750" indent="-285750">
              <a:buFont typeface="Wingdings" panose="05000000000000000000" pitchFamily="2" charset="2"/>
              <a:buChar char="q"/>
            </a:pPr>
            <a:r>
              <a:rPr lang="en-IN" sz="2000" dirty="0"/>
              <a:t>Overall, </a:t>
            </a:r>
            <a:r>
              <a:rPr lang="en-IN" sz="2000" dirty="0" err="1"/>
              <a:t>LifeXP</a:t>
            </a:r>
            <a:r>
              <a:rPr lang="en-IN" sz="2000" dirty="0"/>
              <a:t> shows how gamification can make everyday productivity more motivating and rewarding.</a:t>
            </a:r>
          </a:p>
        </p:txBody>
      </p:sp>
    </p:spTree>
    <p:extLst>
      <p:ext uri="{BB962C8B-B14F-4D97-AF65-F5344CB8AC3E}">
        <p14:creationId xmlns:p14="http://schemas.microsoft.com/office/powerpoint/2010/main" val="1727375252"/>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817</TotalTime>
  <Words>601</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Times New Roman</vt:lpstr>
      <vt:lpstr>Verdana</vt:lpstr>
      <vt:lpstr>Wingdings</vt:lpstr>
      <vt:lpstr>Profile</vt:lpstr>
      <vt:lpstr>PowerPoint Presentation</vt:lpstr>
      <vt:lpstr>ABSTRACT</vt:lpstr>
      <vt:lpstr>PROBLEM STATEMENT / OBJECTIVE</vt:lpstr>
      <vt:lpstr>TOOLS, TECHNOLOGIES AND IMPLEMENTATION</vt:lpstr>
      <vt:lpstr>TOOLS, TECHNOLOGIES AND IMPLEMENTATION</vt:lpstr>
      <vt:lpstr>PROJECT OUTCOME</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Rupmala R</dc:creator>
  <cp:lastModifiedBy>Kavin Sakthi R</cp:lastModifiedBy>
  <cp:revision>44</cp:revision>
  <dcterms:created xsi:type="dcterms:W3CDTF">2023-08-03T04:32:32Z</dcterms:created>
  <dcterms:modified xsi:type="dcterms:W3CDTF">2026-10-15T18:53:51Z</dcterms:modified>
</cp:coreProperties>
</file>